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Exo" panose="020B0604020202020204" charset="0"/>
      <p:regular r:id="rId12"/>
    </p:embeddedFont>
    <p:embeddedFont>
      <p:font typeface="Exo Bold" panose="020B0604020202020204" charset="0"/>
      <p:regular r:id="rId13"/>
    </p:embeddedFont>
    <p:embeddedFont>
      <p:font typeface="Exo SemiBold" panose="020B0604020202020204" charset="0"/>
      <p:regular r:id="rId14"/>
    </p:embeddedFont>
    <p:embeddedFont>
      <p:font typeface="Fira Mono" panose="020B0509050000020004" pitchFamily="49" charset="0"/>
      <p:regular r:id="rId15"/>
    </p:embeddedFont>
    <p:embeddedFont>
      <p:font typeface="Fira Mono Medium" panose="020B0609050000020004" pitchFamily="49" charset="0"/>
      <p:regular r:id="rId16"/>
    </p:embeddedFont>
    <p:embeddedFont>
      <p:font typeface="Michroma" panose="020B0604020202020204" charset="0"/>
      <p:regular r:id="rId17"/>
    </p:embeddedFont>
    <p:embeddedFont>
      <p:font typeface="MuseoModerno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8636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399" y="762000"/>
            <a:ext cx="784840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17202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TEAM BLUEBIRD · PRODUCT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77399" y="1022945"/>
            <a:ext cx="7238819" cy="143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2000" b="1" kern="0" spc="-480" dirty="0">
                <a:solidFill>
                  <a:srgbClr val="17202A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SightLite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177399" y="2836763"/>
            <a:ext cx="1809705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177399" y="3251101"/>
            <a:ext cx="7238819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dirty="0">
                <a:solidFill>
                  <a:srgbClr val="17202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An accessible AI-powered Chrome browser agent that sees, acts, and verifies through natural language.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77399" y="4030960"/>
            <a:ext cx="7848404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kern="0" spc="11" dirty="0">
                <a:solidFill>
                  <a:srgbClr val="17202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Project members: Keertana · Arpita Sanjay Gavi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7399" y="4393109"/>
            <a:ext cx="361940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17202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MODE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7399" y="4688979"/>
            <a:ext cx="3619409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17202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See · Act · Verify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000003" y="4393109"/>
            <a:ext cx="3416215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17202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00003" y="4688979"/>
            <a:ext cx="3416215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17202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Chrome extension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790458" y="4393109"/>
            <a:ext cx="12700" cy="539254"/>
          </a:xfrm>
          <a:prstGeom prst="rect">
            <a:avLst/>
          </a:prstGeom>
          <a:solidFill>
            <a:srgbClr val="D8D7E5"/>
          </a:solidFill>
          <a:ln/>
        </p:spPr>
      </p:sp>
      <p:sp>
        <p:nvSpPr>
          <p:cNvPr id="12" name="Shape 10"/>
          <p:cNvSpPr/>
          <p:nvPr/>
        </p:nvSpPr>
        <p:spPr>
          <a:xfrm>
            <a:off x="7746806" y="762000"/>
            <a:ext cx="4317892" cy="5334000"/>
          </a:xfrm>
          <a:prstGeom prst="roundRect">
            <a:avLst>
              <a:gd name="adj" fmla="val 6353"/>
            </a:avLst>
          </a:prstGeom>
          <a:solidFill>
            <a:srgbClr val="F7F9FC"/>
          </a:solidFill>
          <a:ln w="12700">
            <a:solidFill>
              <a:srgbClr val="D8E0E8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100" y="1181100"/>
            <a:ext cx="2427425" cy="380980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988100" y="5070277"/>
            <a:ext cx="4203595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kern="0" spc="11" dirty="0">
                <a:solidFill>
                  <a:srgbClr val="5B677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SightLite interface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C0E47B-3460-A4B9-CF0F-DD7E894A2AEE}"/>
              </a:ext>
            </a:extLst>
          </p:cNvPr>
          <p:cNvSpPr/>
          <p:nvPr/>
        </p:nvSpPr>
        <p:spPr>
          <a:xfrm>
            <a:off x="10972800" y="6587412"/>
            <a:ext cx="1218895" cy="1843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5B4BC4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0545"/>
            <a:ext cx="10972526" cy="119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4400" kern="0" spc="-53" dirty="0">
                <a:solidFill>
                  <a:srgbClr val="17152A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Web interaction is still harder than it should be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309217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564805"/>
            <a:ext cx="38099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123605"/>
            <a:ext cx="525766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192" dirty="0">
                <a:solidFill>
                  <a:srgbClr val="36324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DYNAMIC INTERFACES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585" y="3464520"/>
            <a:ext cx="525766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Dynamic interfaces make buttons, forms, links, and controls difficult to locate.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2564805"/>
            <a:ext cx="380990" cy="381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4442" y="3123605"/>
            <a:ext cx="525766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192" dirty="0">
                <a:solidFill>
                  <a:srgbClr val="36324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DOM BLIND SPOTS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324442" y="3464520"/>
            <a:ext cx="525766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DOM-only automation can miss visually rendered elements, while shadow DOM, canvas, and iframes add friction.</a:t>
            </a:r>
            <a:endParaRPr lang="en-US" sz="1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462661"/>
            <a:ext cx="380990" cy="381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9585" y="5021461"/>
            <a:ext cx="525766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192" dirty="0">
                <a:solidFill>
                  <a:srgbClr val="36324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ACCESS GAP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09585" y="5362377"/>
            <a:ext cx="525766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For visually impaired users, finding and operating webpage controls can be especially challenging.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442" y="4462661"/>
            <a:ext cx="380990" cy="381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24442" y="5021461"/>
            <a:ext cx="525766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192" dirty="0">
                <a:solidFill>
                  <a:srgbClr val="36324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SIGHTLITE’S ROLE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324442" y="5362377"/>
            <a:ext cx="525766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SightLite turns a spoken or typed goal into a guided, perceivable browser task.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1400743" y="6458545"/>
            <a:ext cx="79095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84" dirty="0">
                <a:solidFill>
                  <a:srgbClr val="625E76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02</a:t>
            </a:r>
            <a:endParaRPr lang="en-US" sz="10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057CE9-42B3-4E03-885E-1718AD11E2D1}"/>
              </a:ext>
            </a:extLst>
          </p:cNvPr>
          <p:cNvSpPr/>
          <p:nvPr/>
        </p:nvSpPr>
        <p:spPr>
          <a:xfrm>
            <a:off x="10972800" y="6587412"/>
            <a:ext cx="1218895" cy="1843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5B4BC4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THE AGENT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0545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4400" kern="0" spc="-53" dirty="0">
                <a:solidFill>
                  <a:srgbClr val="17152A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One loop turns a goal into a verified action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1711325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966913"/>
            <a:ext cx="4978275" cy="236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rgbClr val="36324A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Understand:</a:t>
            </a:r>
            <a:r>
              <a:rPr lang="en-US" sz="150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interpret the user’s natural-language goal.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b="1" dirty="0">
                <a:solidFill>
                  <a:srgbClr val="36324A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Perceive:</a:t>
            </a:r>
            <a:r>
              <a:rPr lang="en-US" sz="150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combine ONNX-based vision with DOM fallback.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1500" b="1" dirty="0">
                <a:solidFill>
                  <a:srgbClr val="36324A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Plan:</a:t>
            </a:r>
            <a:r>
              <a:rPr lang="en-US" sz="150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convert the goal into structured actions.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1500" b="1" dirty="0">
                <a:solidFill>
                  <a:srgbClr val="36324A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Act:</a:t>
            </a:r>
            <a:r>
              <a:rPr lang="en-US" sz="150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click, type, or scroll with safety checks.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5"/>
            </a:pPr>
            <a:r>
              <a:rPr lang="en-US" sz="1500" b="1" dirty="0">
                <a:solidFill>
                  <a:srgbClr val="36324A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Verify:</a:t>
            </a:r>
            <a:r>
              <a:rPr lang="en-US" sz="150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confirm the page changed as expected, then observe again.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851" y="1966913"/>
            <a:ext cx="5460863" cy="2140843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2501" y="2906180"/>
            <a:ext cx="316722" cy="31673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2645" y="2906180"/>
            <a:ext cx="316722" cy="3167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36329" y="2070669"/>
            <a:ext cx="997150" cy="365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00" kern="0" spc="-13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Understand Goal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10335624" y="2070669"/>
            <a:ext cx="997151" cy="365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kern="0" spc="-13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Observe &amp; Perceive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10335624" y="3821215"/>
            <a:ext cx="997151" cy="182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kern="0" spc="-13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Plan &amp; Safety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136329" y="3821215"/>
            <a:ext cx="997150" cy="182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00" kern="0" spc="-13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Act &amp; Verify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892553" y="4187130"/>
            <a:ext cx="5689557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kern="0" spc="11" dirty="0">
                <a:solidFill>
                  <a:srgbClr val="625E76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Core loop: Observe → Perceive → Plan → Safety Check → Act → Verify.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1400743" y="6458545"/>
            <a:ext cx="79095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84" dirty="0">
                <a:solidFill>
                  <a:srgbClr val="625E76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03</a:t>
            </a:r>
            <a:endParaRPr lang="en-US" sz="10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813AC2-B913-06A7-F041-75ECE234F7B3}"/>
              </a:ext>
            </a:extLst>
          </p:cNvPr>
          <p:cNvSpPr/>
          <p:nvPr/>
        </p:nvSpPr>
        <p:spPr>
          <a:xfrm>
            <a:off x="10972800" y="6587412"/>
            <a:ext cx="1218895" cy="1843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369312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5B4BC4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SYSTEM SHAPE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0545"/>
            <a:ext cx="3083542" cy="3587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4400" kern="0" spc="-53" dirty="0">
                <a:solidFill>
                  <a:srgbClr val="17152A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A lightweight extension with a full agent backbone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4700786"/>
            <a:ext cx="77081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956373"/>
            <a:ext cx="3083542" cy="1081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The user sees a focused side panel. Behind it, SightLite coordinates perception, actions, inference, sessions, and analytics.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386" y="1733848"/>
            <a:ext cx="6212724" cy="33903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31642" y="3096191"/>
            <a:ext cx="1288212" cy="207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kern="0" spc="-15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Browser Agent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831642" y="3368518"/>
            <a:ext cx="1288212" cy="30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SightLite agent backbone coordinating components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812543" y="2008957"/>
            <a:ext cx="1480802" cy="207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kern="0" spc="-15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Side Panel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812543" y="2281283"/>
            <a:ext cx="1480802" cy="30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Task input, controls, timeline, Explain, Answer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813466" y="2338234"/>
            <a:ext cx="1480803" cy="207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kern="0" spc="-15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Service Worker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813466" y="2610560"/>
            <a:ext cx="1480803" cy="30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Orchestration, goal parsing, lifecycle, routing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644803" y="4015681"/>
            <a:ext cx="1480803" cy="207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kern="0" spc="-15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Content Script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644803" y="4288007"/>
            <a:ext cx="1480803" cy="30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DOM scanning, browser actions, overlays, interaction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9639513" y="4282830"/>
            <a:ext cx="1480802" cy="207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kern="0" spc="-15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Offscreen Doc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639513" y="4555156"/>
            <a:ext cx="1480802" cy="30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Screenshots, processing, ONNX vision inference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400743" y="6458545"/>
            <a:ext cx="79095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84" dirty="0">
                <a:solidFill>
                  <a:srgbClr val="625E76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6EE0B9-EF21-EECB-18B9-9291B1A8B8B3}"/>
              </a:ext>
            </a:extLst>
          </p:cNvPr>
          <p:cNvSpPr/>
          <p:nvPr/>
        </p:nvSpPr>
        <p:spPr>
          <a:xfrm>
            <a:off x="10972800" y="6587412"/>
            <a:ext cx="1218895" cy="1843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23554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5B4BC4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TARGET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0545"/>
            <a:ext cx="5625959" cy="1793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4400" kern="0" spc="-53" dirty="0">
                <a:solidFill>
                  <a:srgbClr val="17152A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Target selection combines vision, DOM, and intent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907109"/>
            <a:ext cx="1406490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162697"/>
            <a:ext cx="5625959" cy="24260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9552" y="3434328"/>
            <a:ext cx="3093876" cy="18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kern="0" spc="-13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Parse Intent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89552" y="3996929"/>
            <a:ext cx="3093876" cy="18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kern="0" spc="-13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Perceive Page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89552" y="4553903"/>
            <a:ext cx="3093876" cy="18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kern="0" spc="-13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Rank Candidates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89552" y="5110879"/>
            <a:ext cx="3093876" cy="18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kern="0" spc="-13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Execute &amp; Verify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317" y="0"/>
            <a:ext cx="4889378" cy="6858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9585" y="6458545"/>
            <a:ext cx="79095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84" dirty="0">
                <a:solidFill>
                  <a:srgbClr val="625E76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0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5B4BC4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BROWSER-NATIVE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67866"/>
            <a:ext cx="10972526" cy="118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4350" kern="0" spc="-52" dirty="0">
                <a:solidFill>
                  <a:srgbClr val="17152A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The stack is optimized for browser-native perception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544270" y="2132607"/>
            <a:ext cx="2743131" cy="1905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544270" y="2279829"/>
            <a:ext cx="11582110" cy="240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Vision takes a 640 × 640 screenshot and returns bounding boxes, labels, and confidence scores before DOM fallback and element matching.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529713"/>
              </p:ext>
            </p:extLst>
          </p:nvPr>
        </p:nvGraphicFramePr>
        <p:xfrm>
          <a:off x="544270" y="2628129"/>
          <a:ext cx="11184310" cy="4129055"/>
        </p:xfrm>
        <a:graphic>
          <a:graphicData uri="http://schemas.openxmlformats.org/drawingml/2006/table">
            <a:tbl>
              <a:tblPr/>
              <a:tblGrid>
                <a:gridCol w="2236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5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7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6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68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125" dirty="0">
                          <a:solidFill>
                            <a:srgbClr val="4E3CB8"/>
                          </a:solidFill>
                          <a:latin typeface="Michroma" pitchFamily="34" charset="0"/>
                          <a:ea typeface="Michroma" pitchFamily="34" charset="-122"/>
                          <a:cs typeface="Michroma" pitchFamily="34" charset="-120"/>
                        </a:rPr>
                        <a:t>LAYER</a:t>
                      </a: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125" dirty="0">
                          <a:solidFill>
                            <a:srgbClr val="4E3CB8"/>
                          </a:solidFill>
                          <a:latin typeface="Michroma" pitchFamily="34" charset="0"/>
                          <a:ea typeface="Michroma" pitchFamily="34" charset="-122"/>
                          <a:cs typeface="Michroma" pitchFamily="34" charset="-120"/>
                        </a:rPr>
                        <a:t>TECHNOLOGY</a:t>
                      </a: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125" dirty="0">
                          <a:solidFill>
                            <a:srgbClr val="4E3CB8"/>
                          </a:solidFill>
                          <a:latin typeface="Michroma" pitchFamily="34" charset="0"/>
                          <a:ea typeface="Michroma" pitchFamily="34" charset="-122"/>
                          <a:cs typeface="Michroma" pitchFamily="34" charset="-120"/>
                        </a:rPr>
                        <a:t>ROLE</a:t>
                      </a: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3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36324A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Browser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solidFill>
                            <a:srgbClr val="36324A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Google Chrome · Manifest V3 extension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solidFill>
                            <a:srgbClr val="36324A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Native browser surface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8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36324A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Interface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6324A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HTML · CSS · JavaScript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6324A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Side panel and interaction layer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4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36324A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AI vision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6324A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ONNX Runtime · </a:t>
                      </a:r>
                      <a:r>
                        <a:rPr lang="en-US" sz="1500" i="1" dirty="0">
                          <a:solidFill>
                            <a:srgbClr val="36324A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uidet-nano-int8.onnx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6324A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Screenshot detection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8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36324A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Language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6324A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Google Gemini 1.5 Flash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6324A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Goal understanding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55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36324A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Platform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6324A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Python FastAPI · PostgreSQL · Docker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6324A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Sessions and analytics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11402231" y="6459240"/>
            <a:ext cx="789464" cy="18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83" dirty="0">
                <a:solidFill>
                  <a:srgbClr val="625E76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06</a:t>
            </a:r>
            <a:endParaRPr lang="en-US" sz="10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C9DF41-A88B-F1E7-EF02-94FFB402499B}"/>
              </a:ext>
            </a:extLst>
          </p:cNvPr>
          <p:cNvSpPr/>
          <p:nvPr/>
        </p:nvSpPr>
        <p:spPr>
          <a:xfrm>
            <a:off x="10972800" y="6587412"/>
            <a:ext cx="1218895" cy="1843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5B4BC4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ACCESSIBILITY BY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0545"/>
            <a:ext cx="10972526" cy="119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4400" kern="0" spc="-53" dirty="0">
                <a:solidFill>
                  <a:srgbClr val="17152A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Accessibility is built into the interaction model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309217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564805"/>
            <a:ext cx="622284" cy="622300"/>
          </a:xfrm>
          <a:prstGeom prst="roundRect">
            <a:avLst>
              <a:gd name="adj" fmla="val 9184"/>
            </a:avLst>
          </a:prstGeom>
          <a:noFill/>
          <a:ln w="25399">
            <a:solidFill>
              <a:srgbClr val="306CE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856" y="2733080"/>
            <a:ext cx="285743" cy="285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3364905"/>
            <a:ext cx="347971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192" dirty="0">
                <a:solidFill>
                  <a:srgbClr val="36324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CLEAR SIGNAL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9585" y="3705820"/>
            <a:ext cx="347971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High-contrast interface and clear status indicators.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444889" y="2564805"/>
            <a:ext cx="622284" cy="622300"/>
          </a:xfrm>
          <a:prstGeom prst="roundRect">
            <a:avLst>
              <a:gd name="adj" fmla="val 9184"/>
            </a:avLst>
          </a:prstGeom>
          <a:noFill/>
          <a:ln w="25399">
            <a:solidFill>
              <a:srgbClr val="306CE5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160" y="2733080"/>
            <a:ext cx="285743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44889" y="3364905"/>
            <a:ext cx="330191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192" dirty="0">
                <a:solidFill>
                  <a:srgbClr val="36324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KEYBOARD-FIRST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444889" y="3705820"/>
            <a:ext cx="3301917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Keyboard navigation and screen-reader-friendly ARIA labels.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102397" y="2564805"/>
            <a:ext cx="622284" cy="622300"/>
          </a:xfrm>
          <a:prstGeom prst="roundRect">
            <a:avLst>
              <a:gd name="adj" fmla="val 9184"/>
            </a:avLst>
          </a:prstGeom>
          <a:noFill/>
          <a:ln w="25399">
            <a:solidFill>
              <a:srgbClr val="306CE5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0668" y="2733080"/>
            <a:ext cx="285743" cy="285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02397" y="3364905"/>
            <a:ext cx="347971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192" dirty="0">
                <a:solidFill>
                  <a:srgbClr val="36324A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PERCEIVABLE ACTION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02397" y="3705820"/>
            <a:ext cx="347971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Visual target highlighting and natural-language task interaction.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260743" y="2564805"/>
            <a:ext cx="12700" cy="1681956"/>
          </a:xfrm>
          <a:prstGeom prst="rect">
            <a:avLst/>
          </a:prstGeom>
          <a:solidFill>
            <a:srgbClr val="D8D7E5"/>
          </a:solidFill>
          <a:ln/>
        </p:spPr>
      </p:sp>
      <p:sp>
        <p:nvSpPr>
          <p:cNvPr id="18" name="Shape 13"/>
          <p:cNvSpPr/>
          <p:nvPr/>
        </p:nvSpPr>
        <p:spPr>
          <a:xfrm>
            <a:off x="7918252" y="2564805"/>
            <a:ext cx="12700" cy="1681956"/>
          </a:xfrm>
          <a:prstGeom prst="rect">
            <a:avLst/>
          </a:prstGeom>
          <a:solidFill>
            <a:srgbClr val="D8D7E5"/>
          </a:solidFill>
          <a:ln/>
        </p:spPr>
      </p:sp>
      <p:sp>
        <p:nvSpPr>
          <p:cNvPr id="19" name="Text 14"/>
          <p:cNvSpPr/>
          <p:nvPr/>
        </p:nvSpPr>
        <p:spPr>
          <a:xfrm>
            <a:off x="11400743" y="6458545"/>
            <a:ext cx="79095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84" dirty="0">
                <a:solidFill>
                  <a:srgbClr val="625E76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07</a:t>
            </a:r>
            <a:endParaRPr lang="en-US" sz="10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97DFCF-D232-AA39-24D3-58F6D6DEF63D}"/>
              </a:ext>
            </a:extLst>
          </p:cNvPr>
          <p:cNvSpPr/>
          <p:nvPr/>
        </p:nvSpPr>
        <p:spPr>
          <a:xfrm>
            <a:off x="10972800" y="6587412"/>
            <a:ext cx="1218895" cy="1843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23554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5B4BC4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END-TO-END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0545"/>
            <a:ext cx="5625959" cy="239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4400" kern="0" spc="-53" dirty="0">
                <a:solidFill>
                  <a:srgbClr val="17152A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SightLite makes the browser easier to see, control, and understand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3505002"/>
            <a:ext cx="1406490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760589"/>
            <a:ext cx="5625959" cy="24260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9552" y="4032220"/>
            <a:ext cx="3093876" cy="18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Trigger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89552" y="4594821"/>
            <a:ext cx="3093876" cy="18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Perception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89552" y="5151796"/>
            <a:ext cx="3093876" cy="18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Action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89552" y="5708771"/>
            <a:ext cx="3093876" cy="18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Report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02317" y="0"/>
            <a:ext cx="4889378" cy="6858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1" name="Text 8"/>
          <p:cNvSpPr/>
          <p:nvPr/>
        </p:nvSpPr>
        <p:spPr>
          <a:xfrm>
            <a:off x="7530912" y="228600"/>
            <a:ext cx="466078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36324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PROJECT OUTPUT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30912" y="489545"/>
            <a:ext cx="4432189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500" kern="0" spc="-42" dirty="0">
                <a:solidFill>
                  <a:srgbClr val="36324A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Key outcomes</a:t>
            </a:r>
            <a:endParaRPr lang="en-US" sz="3500" dirty="0"/>
          </a:p>
        </p:txBody>
      </p:sp>
      <p:sp>
        <p:nvSpPr>
          <p:cNvPr id="13" name="Text 10"/>
          <p:cNvSpPr/>
          <p:nvPr/>
        </p:nvSpPr>
        <p:spPr>
          <a:xfrm>
            <a:off x="7530912" y="1161951"/>
            <a:ext cx="4432189" cy="1724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Accessible browser control through natural language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Vision, DOM, and intent fused for reliable target selection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Verified actions with clear completion feedback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530912" y="3110210"/>
            <a:ext cx="1462448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15" name="Text 12"/>
          <p:cNvSpPr/>
          <p:nvPr/>
        </p:nvSpPr>
        <p:spPr>
          <a:xfrm>
            <a:off x="7530912" y="3365798"/>
            <a:ext cx="4432189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kern="0" spc="11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 lightweight Chrome extension with an agent backbone built for practical, browser-native assistance.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348607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93" dirty="0">
                <a:solidFill>
                  <a:srgbClr val="5B4BC4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SIGHTLITE · TEAM BLUEBIRD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2609552"/>
            <a:ext cx="10972526" cy="143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2000" b="1" kern="0" spc="-480" dirty="0">
                <a:solidFill>
                  <a:srgbClr val="17152A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Thank You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09585" y="4238923"/>
            <a:ext cx="1158211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36324A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Questions and discussion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00743" y="6458545"/>
            <a:ext cx="79095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84" dirty="0">
                <a:solidFill>
                  <a:srgbClr val="625E76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09</a:t>
            </a:r>
            <a:endParaRPr lang="en-US" sz="10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DE6568-7459-DA1A-BA7F-844AF442588F}"/>
              </a:ext>
            </a:extLst>
          </p:cNvPr>
          <p:cNvSpPr/>
          <p:nvPr/>
        </p:nvSpPr>
        <p:spPr>
          <a:xfrm>
            <a:off x="10972800" y="6587412"/>
            <a:ext cx="1218895" cy="1843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525</Words>
  <Application>Microsoft Office PowerPoint</Application>
  <PresentationFormat>Widescreen</PresentationFormat>
  <Paragraphs>110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Exo</vt:lpstr>
      <vt:lpstr>Fira Mono Medium</vt:lpstr>
      <vt:lpstr>Michroma</vt:lpstr>
      <vt:lpstr>MuseoModerno Bold</vt:lpstr>
      <vt:lpstr>Exo SemiBold</vt:lpstr>
      <vt:lpstr>Fira Mono</vt:lpstr>
      <vt:lpstr>Exo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Keertana keertana</cp:lastModifiedBy>
  <cp:revision>2</cp:revision>
  <dcterms:created xsi:type="dcterms:W3CDTF">2026-09-30T05:03:37Z</dcterms:created>
  <dcterms:modified xsi:type="dcterms:W3CDTF">2026-09-30T05:06:44Z</dcterms:modified>
</cp:coreProperties>
</file>